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120640" cy="5120640"/>
          </a:xfrm>
          <a:prstGeom prst="ellipse">
            <a:avLst/>
          </a:prstGeom>
          <a:ln w="19050">
            <a:solidFill>
              <a:srgbClr val="1E3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914400"/>
            <a:ext cx="5120640" cy="5120640"/>
          </a:xfrm>
          <a:prstGeom prst="ellipse">
            <a:avLst/>
          </a:prstGeom>
          <a:ln w="19050">
            <a:solidFill>
              <a:srgbClr val="1E3C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COMPONENT FLOW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sas2spark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D9822B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9260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1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68880" y="292608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154680" y="2926080"/>
            <a:ext cx="2194560" cy="566928"/>
          </a:xfrm>
          <a:prstGeom prst="roundRect">
            <a:avLst>
              <a:gd name="adj" fmla="val 50000"/>
            </a:avLst>
          </a:prstGeom>
          <a:solidFill>
            <a:srgbClr val="0E8C8C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29260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PySpark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works, component by component: one ordinary SAS run is flattened, decomposed into a dependency graph of DATA/PROC steps, translated to PySpark per step by an LLM, verified value-for-value against golden data through an eval gauntlet, repaired or escalated to a human, then integrated into a single runnable pipeline.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sas2spark · SAS → PySpark v2 · architecture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data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14600" cy="841248"/>
          </a:xfrm>
          <a:prstGeom prst="roundRect">
            <a:avLst>
              <a:gd name="adj" fmla="val 6522"/>
            </a:avLst>
          </a:prstGeom>
          <a:solidFill>
            <a:srgbClr val="E7F1FB"/>
          </a:solidFill>
          <a:ln w="19050">
            <a:solidFill>
              <a:srgbClr val="2F6DB5"/>
            </a:solidFill>
            <a:prstDash val="solid"/>
          </a:ln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44475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7190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MPRINT log + golden data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9751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6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golden/reader.py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514600" cy="841248"/>
          </a:xfrm>
          <a:prstGeom prst="roundRect">
            <a:avLst>
              <a:gd name="adj" fmla="val 6522"/>
            </a:avLst>
          </a:prstGeom>
          <a:solidFill>
            <a:srgbClr val="E7F1FB"/>
          </a:solidFill>
          <a:ln w="19050">
            <a:solidFill>
              <a:srgbClr val="2F6DB5"/>
            </a:solidFill>
            <a:prstDash val="solid"/>
          </a:ln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47288" y="144475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Macro flattener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29000" y="17190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→ concrete steps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29000" y="19751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6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flatten/macro_flattener.py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2514600" cy="841248"/>
          </a:xfrm>
          <a:prstGeom prst="roundRect">
            <a:avLst>
              <a:gd name="adj" fmla="val 6522"/>
            </a:avLst>
          </a:prstGeom>
          <a:solidFill>
            <a:srgbClr val="E7F1FB"/>
          </a:solidFill>
          <a:ln w="19050">
            <a:solidFill>
              <a:srgbClr val="2F6DB5"/>
            </a:solidFill>
            <a:prstDash val="solid"/>
          </a:ln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81928" y="144475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Segmenter + I/O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63640" y="17190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DATA/PROC step units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63640" y="19751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6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parse/segmenter.py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06840" y="1371600"/>
            <a:ext cx="2514600" cy="841248"/>
          </a:xfrm>
          <a:prstGeom prst="roundRect">
            <a:avLst>
              <a:gd name="adj" fmla="val 6522"/>
            </a:avLst>
          </a:prstGeom>
          <a:solidFill>
            <a:srgbClr val="E7F1FB"/>
          </a:solidFill>
          <a:ln w="19050">
            <a:solidFill>
              <a:srgbClr val="2F6DB5"/>
            </a:solidFill>
            <a:prstDash val="solid"/>
          </a:ln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16568" y="144475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Dependency grapher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098280" y="17190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· topo · layers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98280" y="19751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6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graph/depgraph.py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017520" y="1792224"/>
            <a:ext cx="320040" cy="0"/>
          </a:xfrm>
          <a:prstGeom prst="line">
            <a:avLst/>
          </a:prstGeom>
          <a:noFill/>
          <a:ln w="22225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852160" y="1792224"/>
            <a:ext cx="320040" cy="0"/>
          </a:xfrm>
          <a:prstGeom prst="line">
            <a:avLst/>
          </a:prstGeom>
          <a:noFill/>
          <a:ln w="22225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686800" y="1792224"/>
            <a:ext cx="320040" cy="0"/>
          </a:xfrm>
          <a:prstGeom prst="line">
            <a:avLst/>
          </a:prstGeom>
          <a:noFill/>
          <a:ln w="22225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852160" y="2212848"/>
            <a:ext cx="0" cy="457200"/>
          </a:xfrm>
          <a:prstGeom prst="line">
            <a:avLst/>
          </a:prstGeom>
          <a:noFill/>
          <a:ln w="22225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035040" y="22494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of step nodes (parallel where independent)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2670048"/>
            <a:ext cx="11018520" cy="3200400"/>
          </a:xfrm>
          <a:prstGeom prst="roundRect">
            <a:avLst>
              <a:gd name="adj" fmla="val 2857"/>
            </a:avLst>
          </a:prstGeom>
          <a:solidFill>
            <a:srgbClr val="F6FAFB"/>
          </a:solidFill>
          <a:ln w="15875">
            <a:solidFill>
              <a:srgbClr val="0A6A6A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31520" y="2743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LOOP  ·  orchestrate/pipeline.py  (LangGraph-style sweep)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246120"/>
            <a:ext cx="1783080" cy="676656"/>
          </a:xfrm>
          <a:prstGeom prst="roundRect">
            <a:avLst>
              <a:gd name="adj" fmla="val 8108"/>
            </a:avLst>
          </a:prstGeom>
          <a:solidFill>
            <a:srgbClr val="EDEFF2"/>
          </a:solidFill>
          <a:ln w="19050">
            <a:solidFill>
              <a:srgbClr val="5B6B7E"/>
            </a:solidFill>
            <a:prstDash val="solid"/>
          </a:ln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1248" y="3319272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client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359359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gpt-5.5·Claude·stub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31520" y="4041648"/>
            <a:ext cx="1783080" cy="676656"/>
          </a:xfrm>
          <a:prstGeom prst="roundRect">
            <a:avLst>
              <a:gd name="adj" fmla="val 8108"/>
            </a:avLst>
          </a:prstGeom>
          <a:solidFill>
            <a:srgbClr val="EDEFF2"/>
          </a:solidFill>
          <a:ln w="19050">
            <a:solidFill>
              <a:srgbClr val="5B6B7E"/>
            </a:solidFill>
            <a:prstDash val="solid"/>
          </a:ln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41248" y="4114800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2960" y="43891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verified code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88920" y="3383280"/>
            <a:ext cx="2148840" cy="1097280"/>
          </a:xfrm>
          <a:prstGeom prst="roundRect">
            <a:avLst>
              <a:gd name="adj" fmla="val 5000"/>
            </a:avLst>
          </a:prstGeom>
          <a:solidFill>
            <a:srgbClr val="ECEAFB"/>
          </a:solidFill>
          <a:ln w="19050">
            <a:solidFill>
              <a:srgbClr val="6A5AC6"/>
            </a:solidFill>
            <a:prstDash val="solid"/>
          </a:ln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898648" y="345643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Translator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880360" y="373075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LLM per step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880360" y="42428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5A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translate/translator.py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257800" y="3108960"/>
            <a:ext cx="2697480" cy="1874520"/>
          </a:xfrm>
          <a:prstGeom prst="roundRect">
            <a:avLst>
              <a:gd name="adj" fmla="val 2927"/>
            </a:avLst>
          </a:prstGeom>
          <a:solidFill>
            <a:srgbClr val="E1F2F2"/>
          </a:solidFill>
          <a:ln w="19050">
            <a:solidFill>
              <a:srgbClr val="0E8C8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349240" y="32004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 gauntlet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40680" y="3529584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C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static — compile + lint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C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schema — vs golden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C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property — invariants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C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data-equiv — value diff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C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judge — LLM fallback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49240" y="47365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evaluation/gauntlet.py · vs golden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229600" y="3520440"/>
            <a:ext cx="96012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B6B7E"/>
            </a:solidFill>
            <a:prstDash val="solid"/>
          </a:ln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229600" y="35204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pass?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509760" y="352044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E8F3E9"/>
          </a:solidFill>
          <a:ln w="19050">
            <a:solidFill>
              <a:srgbClr val="3C8C4A"/>
            </a:solidFill>
            <a:prstDash val="solid"/>
          </a:ln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619488" y="3593592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601200" y="386791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+ cache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29600" y="4956048"/>
            <a:ext cx="2971800" cy="658368"/>
          </a:xfrm>
          <a:prstGeom prst="roundRect">
            <a:avLst>
              <a:gd name="adj" fmla="val 8333"/>
            </a:avLst>
          </a:prstGeom>
          <a:solidFill>
            <a:srgbClr val="FBEBD8"/>
          </a:solidFill>
          <a:ln w="19050">
            <a:solidFill>
              <a:srgbClr val="D9822B"/>
            </a:solidFill>
            <a:prstDash val="solid"/>
          </a:ln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339328" y="50292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 loop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321040" y="5303520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re-translate with feedback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88920" y="4956048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FAE7E1"/>
          </a:solidFill>
          <a:ln w="19050">
            <a:solidFill>
              <a:srgbClr val="C8503A"/>
            </a:solidFill>
            <a:prstDash val="solid"/>
          </a:ln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898648" y="5029200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review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2880360" y="5303520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nodes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514600" y="3584448"/>
            <a:ext cx="274320" cy="54864"/>
          </a:xfrm>
          <a:prstGeom prst="line">
            <a:avLst/>
          </a:prstGeom>
          <a:noFill/>
          <a:ln w="22225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2514600" y="4379976"/>
            <a:ext cx="274320" cy="-155448"/>
          </a:xfrm>
          <a:prstGeom prst="line">
            <a:avLst/>
          </a:prstGeom>
          <a:noFill/>
          <a:ln w="22225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937760" y="3931920"/>
            <a:ext cx="320040" cy="0"/>
          </a:xfrm>
          <a:prstGeom prst="line">
            <a:avLst/>
          </a:prstGeom>
          <a:noFill/>
          <a:ln w="22225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7955280" y="3886200"/>
            <a:ext cx="274320" cy="0"/>
          </a:xfrm>
          <a:prstGeom prst="line">
            <a:avLst/>
          </a:prstGeom>
          <a:noFill/>
          <a:ln w="22225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9189720" y="3886200"/>
            <a:ext cx="320040" cy="0"/>
          </a:xfrm>
          <a:prstGeom prst="line">
            <a:avLst/>
          </a:prstGeom>
          <a:noFill/>
          <a:ln w="22225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9162288" y="35844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705088" y="4251960"/>
            <a:ext cx="0" cy="704088"/>
          </a:xfrm>
          <a:prstGeom prst="line">
            <a:avLst/>
          </a:prstGeom>
          <a:noFill/>
          <a:ln w="22225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8778240" y="44074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229600" y="5285232"/>
            <a:ext cx="-3291840" cy="0"/>
          </a:xfrm>
          <a:prstGeom prst="line">
            <a:avLst/>
          </a:prstGeom>
          <a:noFill/>
          <a:ln w="22225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5852160" y="5029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×N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229600" y="5577840"/>
            <a:ext cx="0" cy="146304"/>
          </a:xfrm>
          <a:prstGeom prst="line">
            <a:avLst/>
          </a:prstGeom>
          <a:noFill/>
          <a:ln w="22225">
            <a:solidFill>
              <a:srgbClr val="5B6B7E"/>
            </a:solidFill>
            <a:prstDash val="solid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8229600" y="5724144"/>
            <a:ext cx="-5596128" cy="0"/>
          </a:xfrm>
          <a:prstGeom prst="line">
            <a:avLst/>
          </a:prstGeom>
          <a:noFill/>
          <a:ln w="22225">
            <a:solidFill>
              <a:srgbClr val="5B6B7E"/>
            </a:solidFill>
            <a:prstDash val="solid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2633472" y="5724144"/>
            <a:ext cx="0" cy="-1225296"/>
          </a:xfrm>
          <a:prstGeom prst="line">
            <a:avLst/>
          </a:prstGeom>
          <a:noFill/>
          <a:ln w="22225">
            <a:solidFill>
              <a:srgbClr val="5B6B7E"/>
            </a:solidFill>
            <a:prstDash val="solid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2633472" y="4498848"/>
            <a:ext cx="155448" cy="0"/>
          </a:xfrm>
          <a:prstGeom prst="line">
            <a:avLst/>
          </a:prstGeom>
          <a:noFill/>
          <a:ln w="22225">
            <a:solidFill>
              <a:srgbClr val="5B6B7E"/>
            </a:solidFill>
            <a:prstDash val="solid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4572000" y="55229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feedback ≤N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0332720" y="4251960"/>
            <a:ext cx="1005840" cy="0"/>
          </a:xfrm>
          <a:prstGeom prst="line">
            <a:avLst/>
          </a:prstGeom>
          <a:noFill/>
          <a:ln w="22225">
            <a:solidFill>
              <a:srgbClr val="5B6B7E"/>
            </a:solidFill>
            <a:prstDash val="solid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11338560" y="4251960"/>
            <a:ext cx="0" cy="1691640"/>
          </a:xfrm>
          <a:prstGeom prst="line">
            <a:avLst/>
          </a:prstGeom>
          <a:noFill/>
          <a:ln w="22225">
            <a:solidFill>
              <a:srgbClr val="3C8C4A"/>
            </a:solidFill>
            <a:prstDash val="solid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4937760" y="60167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C8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 committed →  Integrator builds pipeline.py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sas2spark · SAS → PySpark v2 · architecture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· DECOMPOSITION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 one SAS run into a graph of small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static analysis — no LLM, no Spark, no cost. Replaces v1's brittle SAS scanner / instrumentation.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1064240" cy="1024128"/>
          </a:xfrm>
          <a:prstGeom prst="rect">
            <a:avLst/>
          </a:prstGeom>
          <a:solidFill>
            <a:srgbClr val="E7F1FB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28800"/>
            <a:ext cx="82296" cy="1024128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121408"/>
            <a:ext cx="438912" cy="438912"/>
          </a:xfrm>
          <a:prstGeom prst="ellipse">
            <a:avLst/>
          </a:prstGeom>
          <a:solidFill>
            <a:srgbClr val="2F6DB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435608" y="195681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Inputs    </a:t>
            </a:r>
            <a:pPr indent="0" marL="0">
              <a:buNone/>
            </a:pPr>
            <a:r>
              <a:rPr lang="en-US" sz="1050" dirty="0">
                <a:solidFill>
                  <a:srgbClr val="2F6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golden/reader.py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35608" y="2286000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artifacts from one ordinary SAS run: the MPRINT .log and the golden datasets (.sas7bdat / .parquet / .csv). GoldenStore maps file names to dataset keys and serves schemas + sample rows.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980944"/>
            <a:ext cx="11064240" cy="1024128"/>
          </a:xfrm>
          <a:prstGeom prst="rect">
            <a:avLst/>
          </a:prstGeom>
          <a:solidFill>
            <a:srgbClr val="E7F1FB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2980944"/>
            <a:ext cx="82296" cy="1024128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273552"/>
            <a:ext cx="438912" cy="438912"/>
          </a:xfrm>
          <a:prstGeom prst="ellipse">
            <a:avLst/>
          </a:prstGeom>
          <a:solidFill>
            <a:srgbClr val="2F6DB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73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35608" y="31089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Macro flattener    </a:t>
            </a:r>
            <a:pPr indent="0" marL="0">
              <a:buNone/>
            </a:pPr>
            <a:r>
              <a:rPr lang="en-US" sz="1050" dirty="0">
                <a:solidFill>
                  <a:srgbClr val="2F6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flatten/macro_flattener.py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35608" y="343814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Harvests the expanded code from MPRINT(...) log lines, so every %macro / %do / &amp;var is already resolved. Raw SAS with no macros passes through unchanged.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133088"/>
            <a:ext cx="11064240" cy="1024128"/>
          </a:xfrm>
          <a:prstGeom prst="rect">
            <a:avLst/>
          </a:prstGeom>
          <a:solidFill>
            <a:srgbClr val="E7F1FB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4133088"/>
            <a:ext cx="82296" cy="1024128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425696"/>
            <a:ext cx="438912" cy="438912"/>
          </a:xfrm>
          <a:prstGeom prst="ellipse">
            <a:avLst/>
          </a:prstGeom>
          <a:solidFill>
            <a:srgbClr val="2F6DB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425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435608" y="426110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Segmenter + I/O extract    </a:t>
            </a:r>
            <a:pPr indent="0" marL="0">
              <a:buNone/>
            </a:pPr>
            <a:r>
              <a:rPr lang="en-US" sz="1050" dirty="0">
                <a:solidFill>
                  <a:srgbClr val="2F6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parse/segmenter.py · io_extract.py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35608" y="45902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partial parser (not a full grammar): strips comments, splits on data/proc … run;/quit;, and extracts each step's inputs (set/merge/from) and outputs (data X / create table X / out=).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285232"/>
            <a:ext cx="11064240" cy="1024128"/>
          </a:xfrm>
          <a:prstGeom prst="rect">
            <a:avLst/>
          </a:prstGeom>
          <a:solidFill>
            <a:srgbClr val="E7F1FB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" y="5285232"/>
            <a:ext cx="82296" cy="1024128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5577840"/>
            <a:ext cx="438912" cy="438912"/>
          </a:xfrm>
          <a:prstGeom prst="ellipse">
            <a:avLst/>
          </a:prstGeom>
          <a:solidFill>
            <a:srgbClr val="2F6DB5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577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435608" y="541324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Dependency grapher    </a:t>
            </a:r>
            <a:pPr indent="0" marL="0">
              <a:buNone/>
            </a:pPr>
            <a:r>
              <a:rPr lang="en-US" sz="1050" dirty="0">
                <a:solidFill>
                  <a:srgbClr val="2F6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graph/depgraph.py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35608" y="574243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DAG (last-writer-wins on dataset names), topologically sorts it, and groups nodes into layers so independent steps translate in parallel. Unwritten reads become EXTERNAL_INPUTS.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sas2spark · SAS → PySpark v2 · architecture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 · PER-NODE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Translate, evaluate, repair — one step at a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468112" cy="1371600"/>
          </a:xfrm>
          <a:prstGeom prst="rect">
            <a:avLst/>
          </a:prstGeom>
          <a:solidFill>
            <a:srgbClr val="ECEAFB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63040"/>
            <a:ext cx="82296" cy="1371600"/>
          </a:xfrm>
          <a:prstGeom prst="rect">
            <a:avLst/>
          </a:prstGeom>
          <a:solidFill>
            <a:srgbClr val="6A5AC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609344"/>
            <a:ext cx="4965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Translator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1920240"/>
            <a:ext cx="4965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translate/translator.py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2176272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the LLM with one SAS step + input/output schemas + golden sample rows; extracts the transform(spark, inputs) code block.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9632" y="1463040"/>
            <a:ext cx="5468112" cy="1371600"/>
          </a:xfrm>
          <a:prstGeom prst="rect">
            <a:avLst/>
          </a:prstGeom>
          <a:solidFill>
            <a:srgbClr val="EDEFF2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463040"/>
            <a:ext cx="82296" cy="1371600"/>
          </a:xfrm>
          <a:prstGeom prst="rect">
            <a:avLst/>
          </a:prstGeom>
          <a:solidFill>
            <a:srgbClr val="5B6B7E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609344"/>
            <a:ext cx="4965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client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73952" y="1920240"/>
            <a:ext cx="4965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llm/client.py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73952" y="2176272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Provider-agnostic: OpenAI gpt-5.5 default, Anthropic Claude fallback, offline stub. The judge phase leads with the other provider.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980944"/>
            <a:ext cx="5468112" cy="1371600"/>
          </a:xfrm>
          <a:prstGeom prst="rect">
            <a:avLst/>
          </a:prstGeom>
          <a:solidFill>
            <a:srgbClr val="EDEFF2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2980944"/>
            <a:ext cx="82296" cy="1371600"/>
          </a:xfrm>
          <a:prstGeom prst="rect">
            <a:avLst/>
          </a:prstGeom>
          <a:solidFill>
            <a:srgbClr val="5B6B7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127248"/>
            <a:ext cx="4965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Translation cache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3438144"/>
            <a:ext cx="4965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orchestrate/cache.py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1248" y="3694176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Fingerprints each step (SAS text + schemas + model). A hit seeds verified code, so re-runs re-evaluate but never re-translate.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9632" y="2980944"/>
            <a:ext cx="5468112" cy="1371600"/>
          </a:xfrm>
          <a:prstGeom prst="rect">
            <a:avLst/>
          </a:prstGeom>
          <a:solidFill>
            <a:srgbClr val="E1F2F2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2980944"/>
            <a:ext cx="82296" cy="1371600"/>
          </a:xfrm>
          <a:prstGeom prst="rect">
            <a:avLst/>
          </a:prstGeom>
          <a:solidFill>
            <a:srgbClr val="0E8C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127248"/>
            <a:ext cx="4965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 gauntlet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73952" y="3438144"/>
            <a:ext cx="4965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evaluation/gauntlet.py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73952" y="3694176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Cheapest-first, fail-fast: static → schema → property → data-equivalence diff → LLM-judge. The step runs once on Spark vs golden.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498848"/>
            <a:ext cx="5468112" cy="1371600"/>
          </a:xfrm>
          <a:prstGeom prst="rect">
            <a:avLst/>
          </a:prstGeom>
          <a:solidFill>
            <a:srgbClr val="FBEBD8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4498848"/>
            <a:ext cx="82296" cy="137160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4645152"/>
            <a:ext cx="4965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 loop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41248" y="4956048"/>
            <a:ext cx="4965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8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repair/repair.py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41248" y="5212080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failure, feeds the exact traceback / schema-diff / value-diff / critique back to the translator and re-translates, up to --max-repair (default 3).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99632" y="4498848"/>
            <a:ext cx="5468112" cy="1371600"/>
          </a:xfrm>
          <a:prstGeom prst="rect">
            <a:avLst/>
          </a:prstGeom>
          <a:solidFill>
            <a:srgbClr val="FAE7E1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4498848"/>
            <a:ext cx="82296" cy="1371600"/>
          </a:xfrm>
          <a:prstGeom prst="rect">
            <a:avLst/>
          </a:prstGeom>
          <a:solidFill>
            <a:srgbClr val="C8503A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4645152"/>
            <a:ext cx="4965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6473952" y="4956048"/>
            <a:ext cx="4965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5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orchestrate/hitl.py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73952" y="5212080"/>
            <a:ext cx="4919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nodes still failing after N attempts surface — with SAS source, generated PySpark, the failing eval, and the diff — in human_review.md.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sas2spark · SAS → PySpark v2 · architecture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GAUNTLET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Cheapest checks first, fail fast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768096"/>
          </a:xfrm>
          <a:prstGeom prst="roundRect">
            <a:avLst>
              <a:gd name="adj" fmla="val 7143"/>
            </a:avLst>
          </a:prstGeom>
          <a:solidFill>
            <a:srgbClr val="16314D"/>
          </a:solidFill>
          <a:ln w="15240">
            <a:solidFill>
              <a:srgbClr val="0E8C8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55648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52728" y="16459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  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static_eval.py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52728" y="19385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· ruff/pyflakes · transform contract · no SparkSession.builder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57216" y="17556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450592"/>
            <a:ext cx="6355080" cy="768096"/>
          </a:xfrm>
          <a:prstGeom prst="roundRect">
            <a:avLst>
              <a:gd name="adj" fmla="val 7143"/>
            </a:avLst>
          </a:prstGeom>
          <a:solidFill>
            <a:srgbClr val="16314D"/>
          </a:solidFill>
          <a:ln w="15240">
            <a:solidFill>
              <a:srgbClr val="0E8C8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651760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52728" y="254203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  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dataframe_evals.py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52728" y="283464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columns, dtypes, row count match the golden schema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25896" y="2651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3346704"/>
            <a:ext cx="7223760" cy="768096"/>
          </a:xfrm>
          <a:prstGeom prst="roundRect">
            <a:avLst>
              <a:gd name="adj" fmla="val 7143"/>
            </a:avLst>
          </a:prstGeom>
          <a:solidFill>
            <a:srgbClr val="16314D"/>
          </a:solidFill>
          <a:ln w="15240">
            <a:solidFill>
              <a:srgbClr val="0E8C8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547872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52728" y="343814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Property / invariant   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compare.py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52728" y="373075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sums, means, null counts, distinct-key counts, min/max vs golden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94576" y="35478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cheap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4242816"/>
            <a:ext cx="8092440" cy="768096"/>
          </a:xfrm>
          <a:prstGeom prst="roundRect">
            <a:avLst>
              <a:gd name="adj" fmla="val 7143"/>
            </a:avLst>
          </a:prstGeom>
          <a:solidFill>
            <a:srgbClr val="16314D"/>
          </a:solidFill>
          <a:ln w="15240">
            <a:solidFill>
              <a:srgbClr val="0E8C8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443984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443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52728" y="4334256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Data-equivalence diff   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spark_runtime.py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52728" y="4626864"/>
            <a:ext cx="6537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value compare: float tol · missing values · 1960 epoch · BY ordering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63256" y="44439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5138928"/>
            <a:ext cx="8961120" cy="768096"/>
          </a:xfrm>
          <a:prstGeom prst="roundRect">
            <a:avLst>
              <a:gd name="adj" fmla="val 7143"/>
            </a:avLst>
          </a:prstGeom>
          <a:solidFill>
            <a:srgbClr val="16314D"/>
          </a:solidFill>
          <a:ln w="15240">
            <a:solidFill>
              <a:srgbClr val="0E8C8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5340096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340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52728" y="523036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LLM-as-judge   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judge_eval.py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52728" y="552297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no-golden steps: the other provider checks logical equivalence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31936" y="534009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6928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runs the translated step once; schema / property / diff all reuse that single materialized frame. A passing gauntlet commits the node.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sas2spark · SAS → PySpark v2 · architecture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 ·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runnable pipeline + a correctness verdict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4023360" cy="3246120"/>
          </a:xfrm>
          <a:prstGeom prst="rect">
            <a:avLst/>
          </a:prstGeom>
          <a:solidFill>
            <a:srgbClr val="E8F3E9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54480"/>
            <a:ext cx="91440" cy="3246120"/>
          </a:xfrm>
          <a:prstGeom prst="rect">
            <a:avLst/>
          </a:prstGeom>
          <a:solidFill>
            <a:srgbClr val="3C8C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Integrator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8C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orchestrate/integrator.py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each committed step to steps/&lt;label&gt;.py and generates pipeline.py — threading each step's output DataFrame into its downstream consumers in topological order. External source tables are supplied by the caller (EXTERNAL_INPUTS).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6766560" cy="713232"/>
          </a:xfrm>
          <a:prstGeom prst="rect">
            <a:avLst/>
          </a:prstGeom>
          <a:solidFill>
            <a:srgbClr val="E8F3E9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554480"/>
            <a:ext cx="82296" cy="713232"/>
          </a:xfrm>
          <a:prstGeom prst="rect">
            <a:avLst/>
          </a:prstGeom>
          <a:solidFill>
            <a:srgbClr val="3C8C4A"/>
          </a:solidFill>
          <a:ln/>
        </p:spPr>
      </p:sp>
      <p:sp>
        <p:nvSpPr>
          <p:cNvPr id="11" name="Text 9"/>
          <p:cNvSpPr/>
          <p:nvPr/>
        </p:nvSpPr>
        <p:spPr>
          <a:xfrm>
            <a:off x="5102352" y="160934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02352" y="1883664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runnable, tool-free PySpark pipeline — single entry point for local / Databricks / EMR / Glue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414016"/>
            <a:ext cx="6766560" cy="713232"/>
          </a:xfrm>
          <a:prstGeom prst="rect">
            <a:avLst/>
          </a:prstGeom>
          <a:solidFill>
            <a:srgbClr val="E1F2F2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414016"/>
            <a:ext cx="82296" cy="713232"/>
          </a:xfrm>
          <a:prstGeom prst="rect">
            <a:avLst/>
          </a:prstGeom>
          <a:solidFill>
            <a:srgbClr val="0E8C8C"/>
          </a:solidFill>
          <a:ln/>
        </p:spPr>
      </p:sp>
      <p:sp>
        <p:nvSpPr>
          <p:cNvPr id="15" name="Text 13"/>
          <p:cNvSpPr/>
          <p:nvPr/>
        </p:nvSpPr>
        <p:spPr>
          <a:xfrm>
            <a:off x="5102352" y="24688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02352" y="274320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correctness verdict, per source file and per step (data_equivalence=ok / FAIL)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273552"/>
            <a:ext cx="6766560" cy="713232"/>
          </a:xfrm>
          <a:prstGeom prst="rect">
            <a:avLst/>
          </a:prstGeom>
          <a:solidFill>
            <a:srgbClr val="E7F1FB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273552"/>
            <a:ext cx="82296" cy="713232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19" name="Text 17"/>
          <p:cNvSpPr/>
          <p:nvPr/>
        </p:nvSpPr>
        <p:spPr>
          <a:xfrm>
            <a:off x="5102352" y="33284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manifest.json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02352" y="3602736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status + eval results + the dependency graph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4133088"/>
            <a:ext cx="6766560" cy="713232"/>
          </a:xfrm>
          <a:prstGeom prst="rect">
            <a:avLst/>
          </a:prstGeom>
          <a:solidFill>
            <a:srgbClr val="FAE7E1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4133088"/>
            <a:ext cx="82296" cy="713232"/>
          </a:xfrm>
          <a:prstGeom prst="rect">
            <a:avLst/>
          </a:prstGeom>
          <a:solidFill>
            <a:srgbClr val="C8503A"/>
          </a:solidFill>
          <a:ln/>
        </p:spPr>
      </p:sp>
      <p:sp>
        <p:nvSpPr>
          <p:cNvPr id="23" name="Text 21"/>
          <p:cNvSpPr/>
          <p:nvPr/>
        </p:nvSpPr>
        <p:spPr>
          <a:xfrm>
            <a:off x="5102352" y="41879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human_review.md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02352" y="4462272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steps that failed verification, with SAS, PySpark, and the exact diff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5029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6243A"/>
          </a:solidFill>
          <a:ln/>
          <a:effectLst>
            <a:outerShdw sx="100000" sy="100000" kx="0" ky="0" algn="bl" rotWithShape="0" blurRad="101600" dist="25400" dir="5400000">
              <a:srgbClr val="1A2A3A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5138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54132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sas2spark project mysas/ --golden-dir golden/ --provider anthropic --fallback none --out build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577900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cli.py · multi-file orchestration: orchestrate/project.py · settings: config.py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sas2spark · SAS → PySpark v2 · architecture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V1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original design maps to this codebase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COMPONENT (Alphacodium diagram)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IN THIS REPO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A4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 Code Scanner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4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Segmenter + I/O extract — parse/segmenter.py (partial parser, no full grammar)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A4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 Code Instrumentation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4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— golden datasets captured at step boundaries from one normal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A4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 Runtime Instrumentation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4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— Macro flattener harvests MPRINT log instead (flatten/macro_flattener.py)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A4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Inputs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4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 + schemas — golden/reader.py feeds schemas &amp; sample rows into the prompt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A4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Translator agent + LLM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4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Translator + LLM client — translate/translator.py, llm/client.py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A4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Code Syntax Checker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4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Gauntlet phase 1 — static_eval.py (compile + lint + contract)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A4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Analyzer + StaticLib(VEGA)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4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Gauntlet phases 2-5 — schema / property / data-equivalence vs golden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A4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cache · Human in the loop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4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orchestrate/cache.py · orchestrate/hitl.py (unchanged in spirit)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8A4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4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orchestrate/pipeline.py — dependency-ordered sweep, parallel over independent nodes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sas2spark · SAS → PySpark v2 · architecture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sas2spark — Architecture &amp; Component Flow (v2)</dc:title>
  <dc:subject>PptxGenJS Presentation</dc:subject>
  <dc:creator>Risklab</dc:creator>
  <cp:lastModifiedBy>Risklab</cp:lastModifiedBy>
  <cp:revision>1</cp:revision>
  <dcterms:created xsi:type="dcterms:W3CDTF">2026-06-14T16:44:34Z</dcterms:created>
  <dcterms:modified xsi:type="dcterms:W3CDTF">2026-06-14T16:44:34Z</dcterms:modified>
</cp:coreProperties>
</file>