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ln w="19050">
            <a:solidFill>
              <a:srgbClr val="1E3C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914400"/>
            <a:ext cx="5120640" cy="5120640"/>
          </a:xfrm>
          <a:prstGeom prst="ellipse">
            <a:avLst/>
          </a:prstGeom>
          <a:ln w="19050">
            <a:solidFill>
              <a:srgbClr val="1E3C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REDESIGN  ·  TECHNICAL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Risklab Code Assistant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80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28803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54680" y="2880360"/>
            <a:ext cx="2194560" cy="566928"/>
          </a:xfrm>
          <a:prstGeom prst="roundRect">
            <a:avLst>
              <a:gd name="adj" fmla="val 50000"/>
            </a:avLst>
          </a:prstGeom>
          <a:solidFill>
            <a:srgbClr val="0E8C8C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28803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PySpark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large SAS codebases (incl. a 25,000-line program) to high-quality PySpark — without the brittle preprocessing / instrumentation layer. A generalized, IR-based translator plus a layered evaluation gauntlet that guarantees correctness.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v1 hurt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Code Scanner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Line-level parsing of arbitrary SAS (multi-line, macros, comments) is brittle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Code Instrumentation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Injecting checkpoints into SAS internals is invasive and error-prone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 Runtime Instrumentation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special instrumented runs; hard to maintain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Construct-based Translator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Hard-coded construct → Python rules; fails on arbitrary nested loops / variations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257800"/>
            <a:ext cx="91440" cy="96012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6" name="Shape 3"/>
          <p:cNvSpPr/>
          <p:nvPr/>
        </p:nvSpPr>
        <p:spPr>
          <a:xfrm>
            <a:off x="658368" y="5257800"/>
            <a:ext cx="10972800" cy="960120"/>
          </a:xfrm>
          <a:prstGeom prst="rect">
            <a:avLst/>
          </a:prstGeom>
          <a:solidFill>
            <a:srgbClr val="F6E2C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 </a:t>
            </a:r>
            <a:pPr indent="0" marL="0">
              <a:buNone/>
            </a:pPr>
            <a:r>
              <a:rPr lang="en-US" sz="1600" b="1" dirty="0">
                <a:solidFill>
                  <a:srgbClr val="5A3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tries to understand and instrument SAS internals line-by-line.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instrumenting internals to validating 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E0852F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544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 ·  the old way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0488" y="1554480"/>
            <a:ext cx="5440680" cy="502920"/>
          </a:xfrm>
          <a:prstGeom prst="roundRect">
            <a:avLst>
              <a:gd name="adj" fmla="val 14545"/>
            </a:avLst>
          </a:prstGeom>
          <a:solidFill>
            <a:srgbClr val="0E8C8C"/>
          </a:solidFill>
          <a:ln/>
        </p:spPr>
      </p:sp>
      <p:sp>
        <p:nvSpPr>
          <p:cNvPr id="7" name="Text 5"/>
          <p:cNvSpPr/>
          <p:nvPr/>
        </p:nvSpPr>
        <p:spPr>
          <a:xfrm>
            <a:off x="6190488" y="15544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  ·  the redesign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440680" cy="91440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212848"/>
            <a:ext cx="64008" cy="9144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2128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every line / inject checkpoints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90488" y="2212848"/>
            <a:ext cx="5440680" cy="914400"/>
          </a:xfrm>
          <a:prstGeom prst="rect">
            <a:avLst/>
          </a:prstGeom>
          <a:solidFill>
            <a:srgbClr val="E7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90488" y="2212848"/>
            <a:ext cx="64008" cy="9144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2128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instrumentation — capture dataset I/O at step boundaries from one ordinary SAS run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236976"/>
            <a:ext cx="5440680" cy="91440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236976"/>
            <a:ext cx="64008" cy="9144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23697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= predefined construct rules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90488" y="3236976"/>
            <a:ext cx="5440680" cy="914400"/>
          </a:xfrm>
          <a:prstGeom prst="rect">
            <a:avLst/>
          </a:prstGeom>
          <a:solidFill>
            <a:srgbClr val="E7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3236976"/>
            <a:ext cx="64008" cy="9144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23697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IR-based translation of self-contained step units (idiomatic PySpark DataFrame API / Spark SQL)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261104"/>
            <a:ext cx="5440680" cy="91440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261104"/>
            <a:ext cx="64008" cy="9144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26110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macro &amp; loop nesting with rules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90488" y="4261104"/>
            <a:ext cx="5440680" cy="914400"/>
          </a:xfrm>
          <a:prstGeom prst="rect">
            <a:avLst/>
          </a:prstGeom>
          <a:solidFill>
            <a:srgbClr val="E7F2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190488" y="4261104"/>
            <a:ext cx="64008" cy="9144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26110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macros first via MPRINT log expansion, then translate concrete unrolled steps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5285232"/>
            <a:ext cx="5440680" cy="91440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5285232"/>
            <a:ext cx="64008" cy="9144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2852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translation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90488" y="5285232"/>
            <a:ext cx="5440680" cy="914400"/>
          </a:xfrm>
          <a:prstGeom prst="rect">
            <a:avLst/>
          </a:prstGeom>
          <a:solidFill>
            <a:srgbClr val="E7F2F2"/>
          </a:solidFill>
          <a:ln/>
        </p:spPr>
      </p:sp>
      <p:sp>
        <p:nvSpPr>
          <p:cNvPr id="30" name="Shape 28"/>
          <p:cNvSpPr/>
          <p:nvPr/>
        </p:nvSpPr>
        <p:spPr>
          <a:xfrm>
            <a:off x="6190488" y="5285232"/>
            <a:ext cx="64008" cy="9144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52852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Dependency-graph decomposition → translate + eval one step at a time (scales to 25K LOC)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normal SAS run in, a verified PySpark pipeline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6314D"/>
          </a:solidFill>
          <a:ln w="19050">
            <a:solidFill>
              <a:srgbClr val="E0852F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91640"/>
            <a:ext cx="502920" cy="502920"/>
          </a:xfrm>
          <a:prstGeom prst="ellipse">
            <a:avLst/>
          </a:prstGeom>
          <a:solidFill>
            <a:srgbClr val="E0852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35608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Flattener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608" y="19293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MPRINT log harvest → concrete unrolled steps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89320" y="14173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537960" y="14173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16314D"/>
          </a:solidFill>
          <a:ln w="1905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39128" y="1691640"/>
            <a:ext cx="502920" cy="50292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673912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15819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Segmenter + Grapher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19293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 nodes, read/write dep DAG, topo-sort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69748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12283F"/>
          </a:solidFill>
          <a:ln w="15875">
            <a:solidFill>
              <a:srgbClr val="0A6A6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" y="2834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LOOP  ·  LangGraph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246120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1631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520440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81912" y="324612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Translator (LLM)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246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648456" y="3246120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16314D"/>
          </a:solidFill>
          <a:ln w="19050">
            <a:solidFill>
              <a:srgbClr val="0E8C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31336" y="3520440"/>
            <a:ext cx="457200" cy="457200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4" name="Text 22"/>
          <p:cNvSpPr/>
          <p:nvPr/>
        </p:nvSpPr>
        <p:spPr>
          <a:xfrm>
            <a:off x="3831336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61688" y="324612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Gauntlet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17336" y="3246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428232" y="3246120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16314D"/>
          </a:solidFill>
          <a:ln w="19050">
            <a:solidFill>
              <a:srgbClr val="E085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3520440"/>
            <a:ext cx="457200" cy="457200"/>
          </a:xfrm>
          <a:prstGeom prst="ellipse">
            <a:avLst/>
          </a:prstGeom>
          <a:solidFill>
            <a:srgbClr val="E0852F"/>
          </a:solidFill>
          <a:ln/>
        </p:spPr>
      </p:sp>
      <p:sp>
        <p:nvSpPr>
          <p:cNvPr id="29" name="Text 27"/>
          <p:cNvSpPr/>
          <p:nvPr/>
        </p:nvSpPr>
        <p:spPr>
          <a:xfrm>
            <a:off x="661111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41464" y="324612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97112" y="324612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208008" y="3246120"/>
            <a:ext cx="2487168" cy="1005840"/>
          </a:xfrm>
          <a:prstGeom prst="roundRect">
            <a:avLst>
              <a:gd name="adj" fmla="val 7273"/>
            </a:avLst>
          </a:prstGeom>
          <a:solidFill>
            <a:srgbClr val="16314D"/>
          </a:solidFill>
          <a:ln w="19050">
            <a:solidFill>
              <a:srgbClr val="B05C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90888" y="3520440"/>
            <a:ext cx="457200" cy="457200"/>
          </a:xfrm>
          <a:prstGeom prst="ellipse">
            <a:avLst/>
          </a:prstGeom>
          <a:solidFill>
            <a:srgbClr val="B05CC8"/>
          </a:solidFill>
          <a:ln/>
        </p:spPr>
      </p:sp>
      <p:sp>
        <p:nvSpPr>
          <p:cNvPr id="34" name="Text 32"/>
          <p:cNvSpPr/>
          <p:nvPr/>
        </p:nvSpPr>
        <p:spPr>
          <a:xfrm>
            <a:off x="939088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921240" y="324612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389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✓  → commit node          fail ✗  → feed error / diff back to Repair          stuck after N tries → human review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all nodes pass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5303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6314D"/>
          </a:solidFill>
          <a:ln w="19050">
            <a:solidFill>
              <a:srgbClr val="3E78A8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68096" y="5509260"/>
            <a:ext cx="502920" cy="502920"/>
          </a:xfrm>
          <a:prstGeom prst="ellipse">
            <a:avLst/>
          </a:prstGeom>
          <a:solidFill>
            <a:srgbClr val="3E78A8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55092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435608" y="5468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Integrator + E2E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35608" y="5815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nodes, compare final outputs to SAS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cooperating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444752" y="1591056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 Flattener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44752" y="192024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SAS once with mprint/mlogic; harvest expanded, unrolled DATA/PROC steps. Macro combinatorics gone.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0488" y="1463040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9944" y="1737360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1" name="Text 9"/>
          <p:cNvSpPr/>
          <p:nvPr/>
        </p:nvSpPr>
        <p:spPr>
          <a:xfrm>
            <a:off x="6409944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068312" y="1591056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Segmenter + Grapher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68312" y="192024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parser finds step boundaries &amp; I/O; builds a read/write dependency DAG, topologically sorted.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2944368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44752" y="2798064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Translator (LLM)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312724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node: SAS step + input/output schema + conventions → idiomatic PySpark. Small prompt, local errors.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2670048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9944" y="2944368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068312" y="2798064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Gauntlet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68312" y="3127248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checks, cheapest first — static, schema, property, data-equivalence, judge, E2E.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877056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151376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444752" y="4005072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Repair loop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44752" y="433425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failure, feed the specific error / diff / critique back and re-translate. Capped at N attempts.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0488" y="3877056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9944" y="4151376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4151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068312" y="4005072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68312" y="433425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nodes failing after N repairs surface — with full context: SAS, PySpark, failing eval, diff.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084064"/>
            <a:ext cx="5440680" cy="1060704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" y="5358384"/>
            <a:ext cx="475488" cy="475488"/>
          </a:xfrm>
          <a:prstGeom prst="ellipse">
            <a:avLst/>
          </a:prstGeom>
          <a:solidFill>
            <a:srgbClr val="0E8C8C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5358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44752" y="5212080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Integrator + E2E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444752" y="554126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committed nodes in dependency order; run end-to-end vs SAS final outputs.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eval gauntlet — cheapest checks first, fail fast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4650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6002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eval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· ruff + mypy · no undefined names/imports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53128" y="17465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36829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514600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236829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eval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columns, dtypes, row count match golden schema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93208" y="2514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13639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28269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07008" y="31363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/ invariant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Sums, means, nulls, distinct keys, group cardinalities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33288" y="32826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904488"/>
            <a:ext cx="667512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050792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7008" y="390448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Data-equivalence (diff)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value compare: float tol, missing values, 1960 epoch, BY/FIRST.LAST.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73368" y="4050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672584"/>
            <a:ext cx="731520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818888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07008" y="467258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No-golden steps: 2nd model checks logical equivalence; flags risk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013448" y="48188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6928" y="5440680"/>
            <a:ext cx="7955280" cy="658368"/>
          </a:xfrm>
          <a:prstGeom prst="roundRect">
            <a:avLst>
              <a:gd name="adj" fmla="val 8333"/>
            </a:avLst>
          </a:prstGeom>
          <a:solidFill>
            <a:srgbClr val="16314D"/>
          </a:solidFill>
          <a:ln w="12700">
            <a:solidFill>
              <a:srgbClr val="0E8C8C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55869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586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07008" y="54406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  </a:t>
            </a:r>
            <a:pPr indent="0" marL="0">
              <a:buNone/>
            </a:pPr>
            <a:r>
              <a:rPr lang="en-US" sz="1100" dirty="0">
                <a:solidFill>
                  <a:srgbClr val="A9B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output vs SAS final output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653528" y="55869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78240" y="3657600"/>
            <a:ext cx="2834640" cy="2331720"/>
          </a:xfrm>
          <a:prstGeom prst="roundRect">
            <a:avLst>
              <a:gd name="adj" fmla="val 3922"/>
            </a:avLst>
          </a:prstGeom>
          <a:solidFill>
            <a:srgbClr val="12283F"/>
          </a:solidFill>
          <a:ln w="15875">
            <a:solidFill>
              <a:srgbClr val="E085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06840" y="40782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 eval suite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06840" y="45262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2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representative SAS snippets with verified PySpark, run on every translator / prompt change → an objective accuracy KPI over time.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Step-level golden data — without instrumentation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6314D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48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4688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already writes datasets between steps, so a normal run hands you step-level golden 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7178040" cy="96012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434840" y="1783080"/>
            <a:ext cx="73152" cy="96012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911096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Dump the datasets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normal run, dump WORK + permanent library .sas7bdat files. They already exist between steps.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2944368"/>
            <a:ext cx="7178040" cy="96012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944368"/>
            <a:ext cx="73152" cy="96012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3072384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the inputs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4015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program inputs too, so the PySpark pipeline runs on byte-identical inputs.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4105656"/>
            <a:ext cx="7178040" cy="960120"/>
          </a:xfrm>
          <a:prstGeom prst="rect">
            <a:avLst/>
          </a:prstGeom>
          <a:solidFill>
            <a:srgbClr val="F1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34840" y="4105656"/>
            <a:ext cx="73152" cy="96012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4233672"/>
            <a:ext cx="6720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injection, no instrumented runtime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09160" y="4562856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checkpoint injection. Zero special runs. SAS runs exactly as it normally would.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Scaling to 25,000 lines of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9476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85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2770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handled — never in one prompt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16916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9476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90288" y="2770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PROC nodes after segmentation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6916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9476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31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39328" y="2770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per LLM call (tens of lines + schemas)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40480"/>
            <a:ext cx="11064240" cy="1965960"/>
          </a:xfrm>
          <a:prstGeom prst="rect">
            <a:avLst/>
          </a:prstGeom>
          <a:solidFill>
            <a:srgbClr val="F4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690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 dependency layers; parallelize independent nodes.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caching — a node re-translates only if its SAS source or input schema changed.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localized to a node → targeted repair and human review, never a whole-program redo.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SAS-specific semantics the design must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830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83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55648" y="17465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Implicit DATA-step loop &amp;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2219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withColumn / select — no per-row iteration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16002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7830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83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79208" y="17465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RETAIN, BY + FIRST. / LAST.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22219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functions: lag / lead, cumulative aggregates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9718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154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1546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55648" y="31181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(incl. many-to-many)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DataFrame.join with careful key semantics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0488" y="29718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1546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1546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79208" y="31181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 SQL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35935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(spark.sql) or DataFrame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3434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45262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45262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55648" y="44897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Arrays, DO loops, OUTPUT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" y="4965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/ array columns / union of frames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90488" y="4343400"/>
            <a:ext cx="5440680" cy="1207008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19088" y="452628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0852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5262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1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79208" y="44897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Formats, char vs numeric, length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19088" y="4965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24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 &amp; Spark types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 implementation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440680" cy="1371600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00200"/>
            <a:ext cx="82296" cy="13716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RUNTIME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" y="2057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PySpark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2532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DataFrame API + SparkSession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600200"/>
            <a:ext cx="5440680" cy="1371600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600200"/>
            <a:ext cx="82296" cy="13716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83096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83096" y="20574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154680"/>
            <a:ext cx="5440680" cy="1371600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154680"/>
            <a:ext cx="82296" cy="1371600"/>
          </a:xfrm>
          <a:prstGeom prst="rect">
            <a:avLst/>
          </a:prstGeom>
          <a:solidFill>
            <a:srgbClr val="0E8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337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EXECUTION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3611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SQL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9536" y="4087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 PySpark — no separate engine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3154680"/>
            <a:ext cx="5440680" cy="1371600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3154680"/>
            <a:ext cx="82296" cy="1371600"/>
          </a:xfrm>
          <a:prstGeom prst="rect">
            <a:avLst/>
          </a:prstGeom>
          <a:solidFill>
            <a:srgbClr val="16314D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3337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GOLDEN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83096" y="3611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pyreadstat · pandas.read_sas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83096" y="4087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SAS .sas7bdat for diff testing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709160"/>
            <a:ext cx="5440680" cy="1371600"/>
          </a:xfrm>
          <a:prstGeom prst="rect">
            <a:avLst/>
          </a:prstGeom>
          <a:solidFill>
            <a:srgbClr val="F1F6F8"/>
          </a:solidFill>
          <a:ln/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4709160"/>
            <a:ext cx="82296" cy="1371600"/>
          </a:xfrm>
          <a:prstGeom prst="rect">
            <a:avLst/>
          </a:prstGeom>
          <a:solidFill>
            <a:srgbClr val="E0852F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4892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EVAL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" y="5166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ruff · mypy · pytest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59536" y="56418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fixture for unit runs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120640" cy="5120640"/>
          </a:xfrm>
          <a:prstGeom prst="ellipse">
            <a:avLst/>
          </a:prstGeom>
          <a:ln w="19050">
            <a:solidFill>
              <a:srgbClr val="1E3C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to be decided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6314D"/>
          </a:solidFill>
          <a:ln w="12700">
            <a:solidFill>
              <a:srgbClr val="0A6A6A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572768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Spark execution mode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72768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single-machine vs cluster for the full 25K-LOC pipeline; partition tuning.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0488" y="18745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6314D"/>
          </a:solidFill>
          <a:ln w="12700">
            <a:solidFill>
              <a:srgbClr val="0A6A6A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64808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96328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tolerances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96328" y="2606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comparison tolerances per domain — risk metrics may need tight ones.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7033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6314D"/>
          </a:solidFill>
          <a:ln w="12700">
            <a:solidFill>
              <a:srgbClr val="0A6A6A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572768" y="3959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Value-compare strategy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to pandas vs in-Spark diff, given dataset sizes.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0488" y="37033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6314D"/>
          </a:solidFill>
          <a:ln w="12700">
            <a:solidFill>
              <a:srgbClr val="0A6A6A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3A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4808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196328" y="3959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granularity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96328" y="4434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intermediate PySpark modular per step, or fuse steps post-validation.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Risklab Code Assistant · SAS → PySpark 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Risklab Code Assistant — SAS → Python (v2 Redesign)</dc:title>
  <dc:subject>PptxGenJS Presentation</dc:subject>
  <dc:creator>Risklab</dc:creator>
  <cp:lastModifiedBy>Risklab</cp:lastModifiedBy>
  <cp:revision>1</cp:revision>
  <dcterms:created xsi:type="dcterms:W3CDTF">2026-06-06T21:17:52Z</dcterms:created>
  <dcterms:modified xsi:type="dcterms:W3CDTF">2026-06-06T21:17:52Z</dcterms:modified>
</cp:coreProperties>
</file>